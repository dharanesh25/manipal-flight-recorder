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63" r:id="rId18"/>
    <p:sldId id="264" r:id="rId19"/>
    <p:sldId id="258" r:id="rId8"/>
    <p:sldId id="259" r:id="rId9"/>
    <p:sldId id="260" r:id="rId10"/>
    <p:sldId id="261" r:id="rId11"/>
    <p:sldId id="265" r:id="rId20"/>
    <p:sldId id="266" r:id="rId2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1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04944"/>
                </a:solidFill>
                <a:latin typeface="Arial"/>
              </a:rPr>
              <a:t>Deviation score crosses the incident threshold at 10:44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Deviation score</c:v>
                </c:pt>
              </c:strCache>
            </c:strRef>
          </c:tx>
          <c:spPr>
            <a:ln w="34925">
              <a:solidFill>
                <a:srgbClr val="0E7C84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10:40:00</c:v>
                </c:pt>
                <c:pt idx="1">
                  <c:v>10:40:10</c:v>
                </c:pt>
                <c:pt idx="2">
                  <c:v>10:40:20</c:v>
                </c:pt>
                <c:pt idx="3">
                  <c:v>10:40:30</c:v>
                </c:pt>
                <c:pt idx="4">
                  <c:v>10:40:40</c:v>
                </c:pt>
                <c:pt idx="5">
                  <c:v>10:40:50</c:v>
                </c:pt>
                <c:pt idx="6">
                  <c:v>10:41:00</c:v>
                </c:pt>
                <c:pt idx="7">
                  <c:v>10:41:10</c:v>
                </c:pt>
                <c:pt idx="8">
                  <c:v>10:41:20</c:v>
                </c:pt>
                <c:pt idx="9">
                  <c:v>10:41:30</c:v>
                </c:pt>
                <c:pt idx="10">
                  <c:v>10:41:40</c:v>
                </c:pt>
                <c:pt idx="11">
                  <c:v>10:41:50</c:v>
                </c:pt>
                <c:pt idx="12">
                  <c:v>10:42:00</c:v>
                </c:pt>
                <c:pt idx="13">
                  <c:v>10:42:10</c:v>
                </c:pt>
                <c:pt idx="14">
                  <c:v>10:42:20</c:v>
                </c:pt>
                <c:pt idx="15">
                  <c:v>10:42:30</c:v>
                </c:pt>
                <c:pt idx="16">
                  <c:v>10:42:40</c:v>
                </c:pt>
                <c:pt idx="17">
                  <c:v>10:42:50</c:v>
                </c:pt>
                <c:pt idx="18">
                  <c:v>10:43:00</c:v>
                </c:pt>
                <c:pt idx="19">
                  <c:v>10:43:10</c:v>
                </c:pt>
                <c:pt idx="20">
                  <c:v>10:43:20</c:v>
                </c:pt>
                <c:pt idx="21">
                  <c:v>10:43:30</c:v>
                </c:pt>
                <c:pt idx="22">
                  <c:v>10:43:40</c:v>
                </c:pt>
                <c:pt idx="23">
                  <c:v>10:43:50</c:v>
                </c:pt>
                <c:pt idx="24">
                  <c:v>10:44:00</c:v>
                </c:pt>
                <c:pt idx="25">
                  <c:v>10:44:10</c:v>
                </c:pt>
                <c:pt idx="26">
                  <c:v>10:44:20</c:v>
                </c:pt>
                <c:pt idx="27">
                  <c:v>10:44:30</c:v>
                </c:pt>
                <c:pt idx="28">
                  <c:v>10:44:40</c:v>
                </c:pt>
                <c:pt idx="29">
                  <c:v>10:44:50</c:v>
                </c:pt>
                <c:pt idx="30">
                  <c:v>10:45:00</c:v>
                </c:pt>
                <c:pt idx="31">
                  <c:v>10:45:10</c:v>
                </c:pt>
                <c:pt idx="32">
                  <c:v>10:45:20</c:v>
                </c:pt>
                <c:pt idx="33">
                  <c:v>10:45:30</c:v>
                </c:pt>
                <c:pt idx="34">
                  <c:v>10:45:40</c:v>
                </c:pt>
                <c:pt idx="35">
                  <c:v>10:45:50</c:v>
                </c:pt>
                <c:pt idx="36">
                  <c:v>10:46:00</c:v>
                </c:pt>
                <c:pt idx="37">
                  <c:v>10:46:10</c:v>
                </c:pt>
                <c:pt idx="38">
                  <c:v>10:46:20</c:v>
                </c:pt>
                <c:pt idx="39">
                  <c:v>10:46:30</c:v>
                </c:pt>
                <c:pt idx="40">
                  <c:v>10:46:40</c:v>
                </c:pt>
                <c:pt idx="41">
                  <c:v>10:46:50</c:v>
                </c:pt>
                <c:pt idx="42">
                  <c:v>10:47:00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8.0</c:v>
                </c:pt>
                <c:pt idx="4">
                  <c:v>8.0</c:v>
                </c:pt>
                <c:pt idx="5">
                  <c:v>8.0</c:v>
                </c:pt>
                <c:pt idx="6">
                  <c:v>8.0</c:v>
                </c:pt>
                <c:pt idx="7">
                  <c:v>8.0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8.0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8.0</c:v>
                </c:pt>
                <c:pt idx="16">
                  <c:v>7.1</c:v>
                </c:pt>
                <c:pt idx="17">
                  <c:v>14.8</c:v>
                </c:pt>
                <c:pt idx="18">
                  <c:v>26.1</c:v>
                </c:pt>
                <c:pt idx="19">
                  <c:v>50.8</c:v>
                </c:pt>
                <c:pt idx="20">
                  <c:v>53.0</c:v>
                </c:pt>
                <c:pt idx="21">
                  <c:v>53.6</c:v>
                </c:pt>
                <c:pt idx="22">
                  <c:v>54.8</c:v>
                </c:pt>
                <c:pt idx="23">
                  <c:v>60.6</c:v>
                </c:pt>
                <c:pt idx="24">
                  <c:v>69.1</c:v>
                </c:pt>
                <c:pt idx="25">
                  <c:v>72.5</c:v>
                </c:pt>
                <c:pt idx="26">
                  <c:v>74.7</c:v>
                </c:pt>
                <c:pt idx="27">
                  <c:v>76.9</c:v>
                </c:pt>
                <c:pt idx="28">
                  <c:v>78.8</c:v>
                </c:pt>
                <c:pt idx="29">
                  <c:v>80.4</c:v>
                </c:pt>
                <c:pt idx="30">
                  <c:v>81.5</c:v>
                </c:pt>
                <c:pt idx="31">
                  <c:v>82.0</c:v>
                </c:pt>
                <c:pt idx="32">
                  <c:v>82.0</c:v>
                </c:pt>
                <c:pt idx="33">
                  <c:v>82.0</c:v>
                </c:pt>
                <c:pt idx="34">
                  <c:v>82.0</c:v>
                </c:pt>
                <c:pt idx="35">
                  <c:v>82.0</c:v>
                </c:pt>
                <c:pt idx="36">
                  <c:v>82.0</c:v>
                </c:pt>
                <c:pt idx="37">
                  <c:v>82.0</c:v>
                </c:pt>
                <c:pt idx="38">
                  <c:v>82.0</c:v>
                </c:pt>
                <c:pt idx="39">
                  <c:v>82.0</c:v>
                </c:pt>
                <c:pt idx="40">
                  <c:v>82.0</c:v>
                </c:pt>
                <c:pt idx="41">
                  <c:v>82.0</c:v>
                </c:pt>
                <c:pt idx="42">
                  <c:v>82.0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 threshold (70)</c:v>
                </c:pt>
              </c:strCache>
            </c:strRef>
          </c:tx>
          <c:spPr>
            <a:ln w="19050">
              <a:solidFill>
                <a:srgbClr val="B5432F"/>
              </a:solidFill>
              <a:prstDash val="dash"/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10:40:00</c:v>
                </c:pt>
                <c:pt idx="1">
                  <c:v>10:40:10</c:v>
                </c:pt>
                <c:pt idx="2">
                  <c:v>10:40:20</c:v>
                </c:pt>
                <c:pt idx="3">
                  <c:v>10:40:30</c:v>
                </c:pt>
                <c:pt idx="4">
                  <c:v>10:40:40</c:v>
                </c:pt>
                <c:pt idx="5">
                  <c:v>10:40:50</c:v>
                </c:pt>
                <c:pt idx="6">
                  <c:v>10:41:00</c:v>
                </c:pt>
                <c:pt idx="7">
                  <c:v>10:41:10</c:v>
                </c:pt>
                <c:pt idx="8">
                  <c:v>10:41:20</c:v>
                </c:pt>
                <c:pt idx="9">
                  <c:v>10:41:30</c:v>
                </c:pt>
                <c:pt idx="10">
                  <c:v>10:41:40</c:v>
                </c:pt>
                <c:pt idx="11">
                  <c:v>10:41:50</c:v>
                </c:pt>
                <c:pt idx="12">
                  <c:v>10:42:00</c:v>
                </c:pt>
                <c:pt idx="13">
                  <c:v>10:42:10</c:v>
                </c:pt>
                <c:pt idx="14">
                  <c:v>10:42:20</c:v>
                </c:pt>
                <c:pt idx="15">
                  <c:v>10:42:30</c:v>
                </c:pt>
                <c:pt idx="16">
                  <c:v>10:42:40</c:v>
                </c:pt>
                <c:pt idx="17">
                  <c:v>10:42:50</c:v>
                </c:pt>
                <c:pt idx="18">
                  <c:v>10:43:00</c:v>
                </c:pt>
                <c:pt idx="19">
                  <c:v>10:43:10</c:v>
                </c:pt>
                <c:pt idx="20">
                  <c:v>10:43:20</c:v>
                </c:pt>
                <c:pt idx="21">
                  <c:v>10:43:30</c:v>
                </c:pt>
                <c:pt idx="22">
                  <c:v>10:43:40</c:v>
                </c:pt>
                <c:pt idx="23">
                  <c:v>10:43:50</c:v>
                </c:pt>
                <c:pt idx="24">
                  <c:v>10:44:00</c:v>
                </c:pt>
                <c:pt idx="25">
                  <c:v>10:44:10</c:v>
                </c:pt>
                <c:pt idx="26">
                  <c:v>10:44:20</c:v>
                </c:pt>
                <c:pt idx="27">
                  <c:v>10:44:30</c:v>
                </c:pt>
                <c:pt idx="28">
                  <c:v>10:44:40</c:v>
                </c:pt>
                <c:pt idx="29">
                  <c:v>10:44:50</c:v>
                </c:pt>
                <c:pt idx="30">
                  <c:v>10:45:00</c:v>
                </c:pt>
                <c:pt idx="31">
                  <c:v>10:45:10</c:v>
                </c:pt>
                <c:pt idx="32">
                  <c:v>10:45:20</c:v>
                </c:pt>
                <c:pt idx="33">
                  <c:v>10:45:30</c:v>
                </c:pt>
                <c:pt idx="34">
                  <c:v>10:45:40</c:v>
                </c:pt>
                <c:pt idx="35">
                  <c:v>10:45:50</c:v>
                </c:pt>
                <c:pt idx="36">
                  <c:v>10:46:00</c:v>
                </c:pt>
                <c:pt idx="37">
                  <c:v>10:46:10</c:v>
                </c:pt>
                <c:pt idx="38">
                  <c:v>10:46:20</c:v>
                </c:pt>
                <c:pt idx="39">
                  <c:v>10:46:30</c:v>
                </c:pt>
                <c:pt idx="40">
                  <c:v>10:46:40</c:v>
                </c:pt>
                <c:pt idx="41">
                  <c:v>10:46:50</c:v>
                </c:pt>
                <c:pt idx="42">
                  <c:v>10:47:00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70</c:v>
                </c:pt>
                <c:pt idx="27">
                  <c:v>70</c:v>
                </c:pt>
                <c:pt idx="28">
                  <c:v>70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70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DDDF"/>
            </a:solidFill>
          </a:ln>
        </c:spPr>
        <c:txPr>
          <a:bodyPr/>
          <a:lstStyle/>
          <a:p>
            <a:pPr>
              <a:defRPr sz="1200">
                <a:solidFill>
                  <a:srgbClr val="4E6664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C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E6664"/>
                </a:solidFill>
                <a:latin typeface="Arial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4E6664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24128" y="274320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4944"/>
                </a:solidFill>
                <a:latin typeface="Arial"/>
              </a:rPr>
              <a:t>Network Flight Recorder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128" y="352044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0E7C84"/>
                </a:solidFill>
                <a:latin typeface="Times New Roman"/>
              </a:rPr>
              <a:t>See the attack before it becomes the incident.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" y="425196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E3332"/>
                </a:solidFill>
                <a:latin typeface="Arial"/>
              </a:rPr>
              <a:t>An investigation workstation for security analysts. It learns how every host, address and protocol normally behaves, flags when that behavior drifts, and replays the sequence second by second — with every score explained.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1155680" y="914400"/>
            <a:ext cx="6108192" cy="4572000"/>
          </a:xfrm>
          <a:prstGeom prst="roundRect">
            <a:avLst>
              <a:gd name="adj" fmla="val 6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1521440" y="1188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5432F"/>
                </a:solidFill>
                <a:latin typeface="Arial"/>
              </a:rPr>
              <a:t>THE PROBLEM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521440" y="1554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E3332"/>
                </a:solidFill>
                <a:latin typeface="Arial"/>
              </a:rPr>
              <a:t>Alert tools say that something fired, not how it developed. Analysts rebuild timelines by hand from scattered logs, and a black-box score earns little trust.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21440" y="2971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4"/>
                </a:solidFill>
                <a:latin typeface="Arial"/>
              </a:rPr>
              <a:t>OUR APPROACH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521440" y="3337560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E3332"/>
                </a:solidFill>
                <a:latin typeface="Arial"/>
              </a:rPr>
              <a:t>Behavior instead of signatures, chronology instead of snapshots, and evidence instead of verdicts: every flag decomposes into named factors with the observed value and the baseline.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24128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1252728" y="6245352"/>
            <a:ext cx="566928" cy="566928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4944"/>
                </a:solidFill>
                <a:latin typeface="Arial"/>
              </a:rPr>
              <a:t>01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52728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Normal behavior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52728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7-day baseline per entity, matched to the same hours of day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520440" y="7383779"/>
            <a:ext cx="230428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3778300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4006900" y="6245352"/>
            <a:ext cx="566928" cy="566928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4944"/>
                </a:solidFill>
                <a:latin typeface="Arial"/>
              </a:rPr>
              <a:t>02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006900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Behavioral deviation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06900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Live flows measured in σ against that envelope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6274612" y="7383779"/>
            <a:ext cx="230429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6532473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6761073" y="6245352"/>
            <a:ext cx="566928" cy="566928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4944"/>
                </a:solidFill>
                <a:latin typeface="Arial"/>
              </a:rPr>
              <a:t>03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761073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Anomaly detection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761073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Deviation that persists, or meets a novel destination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9028785" y="7383779"/>
            <a:ext cx="230429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9286646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9515246" y="6245352"/>
            <a:ext cx="566928" cy="566928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4944"/>
                </a:solidFill>
                <a:latin typeface="Arial"/>
              </a:rPr>
              <a:t>04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15246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Event correlation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15246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Signals on one entity in one time window are linked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1782958" y="7383779"/>
            <a:ext cx="230429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12040819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2269419" y="6245352"/>
            <a:ext cx="566928" cy="566928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04944"/>
                </a:solidFill>
                <a:latin typeface="Arial"/>
              </a:rPr>
              <a:t>05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269419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Attack timeline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269419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Sequence rebuilt second by second, routine traffic kept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4537131" y="7383779"/>
            <a:ext cx="230428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14794991" y="5989320"/>
            <a:ext cx="2468880" cy="27889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15023591" y="6245352"/>
            <a:ext cx="566928" cy="566928"/>
          </a:xfrm>
          <a:prstGeom prst="ellipse">
            <a:avLst/>
          </a:prstGeom>
          <a:solidFill>
            <a:srgbClr val="004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023591" y="7013448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Explainable investigation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023591" y="78181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Score split into named factors with their evidence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24128" y="9189720"/>
            <a:ext cx="162397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E6664"/>
                </a:solidFill>
                <a:latin typeface="Arial"/>
              </a:rPr>
              <a:t>All telemetry in this build is simulated — the frontend demonstrates the workflow and performs no real threat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16239743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INC-2047 Replay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24128" y="2724912"/>
            <a:ext cx="1554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4944"/>
                </a:solidFill>
                <a:latin typeface="Arial"/>
              </a:rPr>
              <a:t>Demo scenario: </a:t>
            </a:r>
            <a:r>
              <a:rPr sz="1700" b="0" i="0">
                <a:solidFill>
                  <a:srgbClr val="1E3332"/>
                </a:solidFill>
                <a:latin typeface="Arial"/>
              </a:rPr>
              <a:t>finance workstation ws-fin-014 (10.24.18.42) starts checking in with a never-seen domain every 4 seconds, then reads 412 MB from a file server. Replay window: 30 Sep 2026, 10:40–10:47 UTC.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24128" y="3703320"/>
            <a:ext cx="9829800" cy="57607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0" name="Chart 129"/>
          <p:cNvGraphicFramePr>
            <a:graphicFrameLocks noGrp="1"/>
          </p:cNvGraphicFramePr>
          <p:nvPr/>
        </p:nvGraphicFramePr>
        <p:xfrm>
          <a:off x="1252728" y="3840480"/>
          <a:ext cx="9372600" cy="54864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1" name="Rounded Rectangle 130"/>
          <p:cNvSpPr/>
          <p:nvPr/>
        </p:nvSpPr>
        <p:spPr>
          <a:xfrm>
            <a:off x="11155680" y="3703320"/>
            <a:ext cx="6108192" cy="576072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1475719" y="39319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10:40:00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847319" y="39319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E7A4E"/>
                </a:solidFill>
                <a:latin typeface="Arial"/>
              </a:rPr>
              <a:t>NORMAL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847319" y="42793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Traffic inside the 7-day baseline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475719" y="48463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10:42:31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847319" y="4846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6E1B"/>
                </a:solidFill>
                <a:latin typeface="Arial"/>
              </a:rPr>
              <a:t>DEVIATION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47319" y="51937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Outbound rate 4.1/min vs 1.2 baseline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475719" y="57607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10:43:02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847319" y="57607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6E1B"/>
                </a:solidFill>
                <a:latin typeface="Arial"/>
              </a:rPr>
              <a:t>ANOMALY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847319" y="61081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First contact: cdn-sync.example on 8443/tcp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475719" y="66751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10:43:17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847319" y="66751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6E1B"/>
                </a:solidFill>
                <a:latin typeface="Arial"/>
              </a:rPr>
              <a:t>CORRELATION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847319" y="70225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Check-ins lock to 4.0 s ± 0.15 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475719" y="75895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10:44:05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847319" y="75895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432F"/>
                </a:solidFill>
                <a:latin typeface="Arial"/>
              </a:rPr>
              <a:t>ESCALATION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847319" y="79369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Periodic-egress match; 412 MB SMB read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475719" y="850392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944"/>
                </a:solidFill>
                <a:latin typeface="Courier New"/>
              </a:rPr>
              <a:t>10:45:12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847319" y="85039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5432F"/>
                </a:solidFill>
                <a:latin typeface="Arial"/>
              </a:rPr>
              <a:t>INCIDENT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847319" y="88513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Score 82 / 100 · confidence 0.82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24128" y="9692640"/>
            <a:ext cx="162397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E6664"/>
                </a:solidFill>
                <a:latin typeface="Arial"/>
              </a:rPr>
              <a:t>Score 82 = outbound frequency +32 · destination novelty +21 · periodic timing +17 · unusual port +12. Scores are scripted demo values, not output of a trained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16239743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Key Features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24128" y="27432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280160" y="2999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80160" y="33832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Landing page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80160" y="41605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is this product?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80160" y="4754880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Auto-playing, scrubbable replay of INC-2047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326940" y="27432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4582972" y="2999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82972" y="33832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Security Overview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82972" y="41605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is abnormal right now?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82972" y="4754880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Zoomable network map, live event stream, 24h density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629753" y="27432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885785" y="2999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885785" y="33832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Flight Recorder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85785" y="41605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How did the incident develop?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85785" y="4754880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Drag a cursor: graph, events, score and explanation move together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932566" y="27432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1188598" y="2999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188598" y="33832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Investigation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188598" y="41605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Why was it flagged?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188598" y="4754880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Reconstruction timeline + factor breakdown + analyst notes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4235379" y="27432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4491411" y="2999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491411" y="33832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Behavioral Analysis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4491411" y="41605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moved from baseline?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4491411" y="4754880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Deviation matrix and six-dimension fingerprint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24128" y="59436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1280160" y="61996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80160" y="65836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Event Timeline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80160" y="73609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is the full record?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80160" y="7955279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Filters, search, time-range brush, j/k keys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326940" y="59436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582972" y="61996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82972" y="65836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Network Entities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82972" y="73609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do we know about each entity?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82972" y="7955279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Sortable table with profile side panel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629753" y="59436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7885785" y="61996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85785" y="65836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Detection Details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885785" y="73609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Is the detection logic sound?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85785" y="7955279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Four reasoning steps with evidence charts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932566" y="59436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11188598" y="61996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188598" y="65836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Investigation Report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188598" y="73609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What goes to stakeholders?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188598" y="7955279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Seven-section forensic document, PDF export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4235379" y="5943600"/>
            <a:ext cx="3028492" cy="292608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14491411" y="61996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4"/>
                </a:solidFill>
                <a:latin typeface="Courier New"/>
              </a:rPr>
              <a:t>09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491411" y="6583680"/>
            <a:ext cx="25712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Settings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491411" y="7360920"/>
            <a:ext cx="25712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E7C84"/>
                </a:solidFill>
                <a:latin typeface="Arial"/>
              </a:rPr>
              <a:t>How is it configured?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491411" y="7955279"/>
            <a:ext cx="25712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4E6664"/>
                </a:solidFill>
                <a:latin typeface="Arial"/>
              </a:rPr>
              <a:t>Thresholds, sources, retention, backend status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4128" y="9372600"/>
            <a:ext cx="162397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E6664"/>
                </a:solidFill>
                <a:latin typeface="Arial"/>
              </a:rPr>
              <a:t>Keyboard-first: 1–9 jump between sections · Space plays the replay · j / k move through rows · ? lists every shortcut.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24128" y="44805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944"/>
                </a:solidFill>
                <a:latin typeface="Arial"/>
              </a:rPr>
              <a:t>Engineering choices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4128" y="5074920"/>
            <a:ext cx="7223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1" i="0">
                <a:solidFill>
                  <a:srgbClr val="004944"/>
                </a:solidFill>
                <a:latin typeface="Arial"/>
              </a:rPr>
              <a:t>One data hook. </a:t>
            </a:r>
            <a:r>
              <a:rPr sz="1600" b="0" i="0">
                <a:solidFill>
                  <a:srgbClr val="1E3332"/>
                </a:solidFill>
                <a:latin typeface="Arial"/>
              </a:rPr>
              <a:t>Every page reads through useResource(key) — switching to FastAPI is one setting, not ten pages.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1" i="0">
                <a:solidFill>
                  <a:srgbClr val="004944"/>
                </a:solidFill>
                <a:latin typeface="Arial"/>
              </a:rPr>
              <a:t>Deterministic demo data. </a:t>
            </a:r>
            <a:r>
              <a:rPr sz="1600" b="0" i="0">
                <a:solidFill>
                  <a:srgbClr val="1E3332"/>
                </a:solidFill>
                <a:latin typeface="Arial"/>
              </a:rPr>
              <a:t>Seeded telemetry renders the same story on every run.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1" i="0">
                <a:solidFill>
                  <a:srgbClr val="004944"/>
                </a:solidFill>
                <a:latin typeface="Arial"/>
              </a:rPr>
              <a:t>Hand-built SVG visuals. </a:t>
            </a:r>
            <a:r>
              <a:rPr sz="1600" b="0" i="0">
                <a:solidFill>
                  <a:srgbClr val="1E3332"/>
                </a:solidFill>
                <a:latin typeface="Arial"/>
              </a:rPr>
              <a:t>Network graph, recorder strip and baseline charts — no chart library.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1" i="0">
                <a:solidFill>
                  <a:srgbClr val="004944"/>
                </a:solidFill>
                <a:latin typeface="Arial"/>
              </a:rPr>
              <a:t>Reusable components. </a:t>
            </a:r>
            <a:r>
              <a:rPr sz="1600" b="0" i="0">
                <a:solidFill>
                  <a:srgbClr val="1E3332"/>
                </a:solidFill>
                <a:latin typeface="Arial"/>
              </a:rPr>
              <a:t>NetworkGraph, RecorderStrip, Timeline, EventStream, EntityTable, DetectionPanel.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1" i="0">
                <a:solidFill>
                  <a:srgbClr val="004944"/>
                </a:solidFill>
                <a:latin typeface="Arial"/>
              </a:rPr>
              <a:t>Resilient UI. </a:t>
            </a:r>
            <a:r>
              <a:rPr sz="1600" b="0" i="0">
                <a:solidFill>
                  <a:srgbClr val="1E3332"/>
                </a:solidFill>
                <a:latin typeface="Arial"/>
              </a:rPr>
              <a:t>Responsive from 768 to 1440 px; an error boundary contains page failures.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915400" y="914400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189720" y="1207008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React 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189720" y="1783080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Component UI, hooks, context state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3226796" y="914400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3501116" y="1207008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Vite 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3501116" y="1783080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Dev server, hot reload, ~139 KB gzipped build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915400" y="3127248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9189720" y="3419856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Tailwind CSS 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89720" y="3995928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Design tokens defined once in @theme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3226796" y="3127248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13501116" y="3419856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React Router 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501116" y="3995928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10 routes, deep links with ?id=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915400" y="5340096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9189720" y="5632704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JavaScript (ES modules)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89720" y="6208776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Plain JS, as the brief required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3226796" y="5340096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13501116" y="5632704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lucide-react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501116" y="6208776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Minimal interface glyphs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915400" y="7552944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9189720" y="7845552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Custom SVG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89720" y="8421624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Graph, replay strip, evidence charts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3226796" y="7552944"/>
            <a:ext cx="4037075" cy="193852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5875">
            <a:solidFill>
              <a:srgbClr val="0E7C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13501116" y="7845552"/>
            <a:ext cx="34884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FastAPI · planned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501116" y="8421624"/>
            <a:ext cx="34884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E6664"/>
                </a:solidFill>
                <a:latin typeface="Arial"/>
              </a:rPr>
              <a:t>/api/events, /entities, /incidents, /behavior, /detections, /timeline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01" name="Title Architecture"/>
          <p:cNvSpPr txBox="1"/>
          <p:nvPr/>
        </p:nvSpPr>
        <p:spPr>
          <a:xfrm>
            <a:off x="1028700" y="838200"/>
            <a:ext cx="16239743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Architecture</a:t>
            </a:r>
            <a:endParaRPr/>
          </a:p>
        </p:txBody>
      </p:sp>
      <p:sp>
        <p:nvSpPr>
          <p:cNvPr id="902" name="Rounded Rectangle 901"/>
          <p:cNvSpPr/>
          <p:nvPr/>
        </p:nvSpPr>
        <p:spPr>
          <a:xfrm>
            <a:off x="1024128" y="2606040"/>
            <a:ext cx="16239743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1344168" y="27889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Pages · 10 routes in src/pages, rendered inside AppShell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344168" y="3291840"/>
            <a:ext cx="155996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E6664"/>
                </a:solidFill>
                <a:latin typeface="Arial"/>
              </a:rPr>
              <a:t>Landing · Overview · Flight Recorder · Investigation · Behavior · Timeline · Entities · Detection · Report · Settings   —   shell adds sidebar, top bar, shortcuts, error boundary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1024128" y="4800600"/>
            <a:ext cx="5138928" cy="233172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1298448" y="5029200"/>
            <a:ext cx="4590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Shared components</a:t>
            </a:r>
            <a:r>
              <a:rPr sz="1300" b="0" i="0">
                <a:solidFill>
                  <a:srgbClr val="4E6664"/>
                </a:solidFill>
                <a:latin typeface="Arial"/>
              </a:rPr>
              <a:t>   src/components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298448" y="5577840"/>
            <a:ext cx="4590288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NetworkGraph · RecorderStrip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Timeline · EventStream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EntityTable · DetectionPanel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BehaviorChart · FilterBar</a:t>
            </a:r>
          </a:p>
        </p:txBody>
      </p:sp>
      <p:cxnSp>
        <p:nvCxnSpPr>
          <p:cNvPr id="908" name="Connector 907"/>
          <p:cNvCxnSpPr/>
          <p:nvPr/>
        </p:nvCxnSpPr>
        <p:spPr>
          <a:xfrm>
            <a:off x="3593592" y="4023360"/>
            <a:ext cx="0" cy="777240"/>
          </a:xfrm>
          <a:prstGeom prst="line">
            <a:avLst/>
          </a:prstGeom>
          <a:ln w="19050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9" name="Rounded Rectangle 908"/>
          <p:cNvSpPr/>
          <p:nvPr/>
        </p:nvSpPr>
        <p:spPr>
          <a:xfrm>
            <a:off x="6574536" y="4800600"/>
            <a:ext cx="5138928" cy="2331720"/>
          </a:xfrm>
          <a:prstGeom prst="roundRect">
            <a:avLst>
              <a:gd name="adj" fmla="val 6000"/>
            </a:avLst>
          </a:prstGeom>
          <a:solidFill>
            <a:srgbClr val="E4F8F9"/>
          </a:solidFill>
          <a:ln w="25400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848856" y="5029200"/>
            <a:ext cx="4590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useResource(key)</a:t>
            </a:r>
            <a:r>
              <a:rPr sz="1300" b="0" i="0">
                <a:solidFill>
                  <a:srgbClr val="4E6664"/>
                </a:solidFill>
                <a:latin typeface="Arial"/>
              </a:rPr>
              <a:t>   src/api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848856" y="5577840"/>
            <a:ext cx="4590288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Serves bundled demo data today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Calls /api/* once VITE_API_BASE is set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Falls back to demo data on failure</a:t>
            </a:r>
          </a:p>
        </p:txBody>
      </p:sp>
      <p:cxnSp>
        <p:nvCxnSpPr>
          <p:cNvPr id="912" name="Connector 911"/>
          <p:cNvCxnSpPr/>
          <p:nvPr/>
        </p:nvCxnSpPr>
        <p:spPr>
          <a:xfrm>
            <a:off x="9144000" y="4023360"/>
            <a:ext cx="0" cy="777240"/>
          </a:xfrm>
          <a:prstGeom prst="line">
            <a:avLst/>
          </a:prstGeom>
          <a:ln w="19050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3" name="Rounded Rectangle 912"/>
          <p:cNvSpPr/>
          <p:nvPr/>
        </p:nvSpPr>
        <p:spPr>
          <a:xfrm>
            <a:off x="12124944" y="4800600"/>
            <a:ext cx="5138928" cy="233172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4" name="TextBox 913"/>
          <p:cNvSpPr txBox="1"/>
          <p:nvPr/>
        </p:nvSpPr>
        <p:spPr>
          <a:xfrm>
            <a:off x="12399264" y="5029200"/>
            <a:ext cx="4590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4944"/>
                </a:solidFill>
                <a:latin typeface="Arial"/>
              </a:rPr>
              <a:t>AppState</a:t>
            </a:r>
            <a:r>
              <a:rPr sz="1300" b="0" i="0">
                <a:solidFill>
                  <a:srgbClr val="4E6664"/>
                </a:solidFill>
                <a:latin typeface="Arial"/>
              </a:rPr>
              <a:t>   src/state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12399264" y="5577840"/>
            <a:ext cx="4590288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Simulated clock (UTC)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Analyst preferences in localStorage</a:t>
            </a:r>
          </a:p>
          <a:p>
            <a:pPr algn="l" marL="274320" indent="-274320">
              <a:spcAft>
                <a:spcPts val="400"/>
              </a:spcAft>
              <a:buClr>
                <a:srgbClr val="0E7C84"/>
              </a:buClr>
              <a:buFont typeface="Arial"/>
              <a:buChar char="▪"/>
            </a:pPr>
            <a:r>
              <a:rPr sz="1400" b="0" i="0">
                <a:solidFill>
                  <a:srgbClr val="1E3332"/>
                </a:solidFill>
                <a:latin typeface="Arial"/>
              </a:rPr>
              <a:t>Shortcut overlay, mobile navigation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14694408" y="4023360"/>
            <a:ext cx="0" cy="777240"/>
          </a:xfrm>
          <a:prstGeom prst="line">
            <a:avLst/>
          </a:prstGeom>
          <a:ln w="19050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Rounded Rectangle 916"/>
          <p:cNvSpPr/>
          <p:nvPr/>
        </p:nvSpPr>
        <p:spPr>
          <a:xfrm>
            <a:off x="3730752" y="42519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8" name="TextBox 917"/>
          <p:cNvSpPr txBox="1"/>
          <p:nvPr/>
        </p:nvSpPr>
        <p:spPr>
          <a:xfrm>
            <a:off x="3730752" y="4288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renders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9281160" y="42519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9281160" y="428853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reads data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14831567" y="42519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2" name="TextBox 921"/>
          <p:cNvSpPr txBox="1"/>
          <p:nvPr/>
        </p:nvSpPr>
        <p:spPr>
          <a:xfrm>
            <a:off x="14831567" y="428853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reads clock &amp; prefs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3931920" y="7909560"/>
            <a:ext cx="4846320" cy="15087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4206240" y="811072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Demo telemetry</a:t>
            </a:r>
            <a:r>
              <a:rPr sz="1300" b="0" i="0">
                <a:solidFill>
                  <a:srgbClr val="4E6664"/>
                </a:solidFill>
                <a:latin typeface="Arial"/>
              </a:rPr>
              <a:t>   src/data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4206240" y="8622792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E6664"/>
                </a:solidFill>
                <a:latin typeface="Arial"/>
              </a:rPr>
              <a:t>INC-2047 replay · 109 events · entities · incidents · behavioral baselines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9509760" y="7909560"/>
            <a:ext cx="4846320" cy="15087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5875">
            <a:solidFill>
              <a:srgbClr val="0E7C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9784080" y="811072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4944"/>
                </a:solidFill>
                <a:latin typeface="Arial"/>
              </a:rPr>
              <a:t>FastAPI backend</a:t>
            </a:r>
            <a:r>
              <a:rPr sz="1300" b="0" i="1">
                <a:solidFill>
                  <a:srgbClr val="4E6664"/>
                </a:solidFill>
                <a:latin typeface="Arial"/>
              </a:rPr>
              <a:t>   planned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9784080" y="8622792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E6664"/>
                </a:solidFill>
                <a:latin typeface="Arial"/>
              </a:rPr>
              <a:t>events · entities · incidents · behavior · detections · timeline</a:t>
            </a:r>
          </a:p>
        </p:txBody>
      </p:sp>
      <p:cxnSp>
        <p:nvCxnSpPr>
          <p:cNvPr id="929" name="Connector 928"/>
          <p:cNvCxnSpPr/>
          <p:nvPr/>
        </p:nvCxnSpPr>
        <p:spPr>
          <a:xfrm flipH="1">
            <a:off x="6355079" y="7132320"/>
            <a:ext cx="2514601" cy="777240"/>
          </a:xfrm>
          <a:prstGeom prst="line">
            <a:avLst/>
          </a:prstGeom>
          <a:ln w="19050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9418320" y="7132320"/>
            <a:ext cx="2514600" cy="777240"/>
          </a:xfrm>
          <a:prstGeom prst="line">
            <a:avLst/>
          </a:prstGeom>
          <a:ln w="19050">
            <a:solidFill>
              <a:srgbClr val="0E7C8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Rounded Rectangle 930"/>
          <p:cNvSpPr/>
          <p:nvPr/>
        </p:nvSpPr>
        <p:spPr>
          <a:xfrm>
            <a:off x="7178040" y="73609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2" name="TextBox 931"/>
          <p:cNvSpPr txBox="1"/>
          <p:nvPr/>
        </p:nvSpPr>
        <p:spPr>
          <a:xfrm>
            <a:off x="7178040" y="739749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today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8915400" y="736092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4" name="TextBox 933"/>
          <p:cNvSpPr txBox="1"/>
          <p:nvPr/>
        </p:nvSpPr>
        <p:spPr>
          <a:xfrm>
            <a:off x="8915400" y="739749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when VITE_API_BASE is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4128" y="2697480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E3332"/>
                </a:solidFill>
                <a:latin typeface="Arial"/>
              </a:rPr>
              <a:t>How telemetry becomes an explained incident — the pipeline the frontend is built to display.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24128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1225296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25296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Telemetry sources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25296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Zeek conn / dns / smb, NetFlow, directory auth, endpoint agent, reputation feed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456432" y="4594860"/>
            <a:ext cx="299923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3792931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3994099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994099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Behavior model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994099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7-day rolling baseline per entity, same hours of day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6225235" y="4594860"/>
            <a:ext cx="299923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6561734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6762902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762902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Deviation scoring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762902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σ per dimension: rate, destinations, ports, timing, volume, protocols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8994038" y="4594860"/>
            <a:ext cx="299923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9330537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9531705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531705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Correlator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531705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Links signals on one entity within a 15-minute window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1762841" y="4594860"/>
            <a:ext cx="299923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12099340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12300508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300508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Incidents &amp; detections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300508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Score = sum of named factors, plus confidence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4531644" y="4594860"/>
            <a:ext cx="299923" cy="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14868143" y="3383280"/>
            <a:ext cx="2395728" cy="2423160"/>
          </a:xfrm>
          <a:prstGeom prst="roundRect">
            <a:avLst>
              <a:gd name="adj" fmla="val 6000"/>
            </a:avLst>
          </a:prstGeom>
          <a:solidFill>
            <a:srgbClr val="E4F8F9"/>
          </a:solidFill>
          <a:ln w="22225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15069311" y="3584448"/>
            <a:ext cx="457200" cy="457200"/>
          </a:xfrm>
          <a:prstGeom prst="ellipse">
            <a:avLst/>
          </a:prstGeom>
          <a:solidFill>
            <a:srgbClr val="5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04944"/>
                </a:solidFill>
                <a:latin typeface="Arial"/>
              </a:rPr>
              <a:t>6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5069311" y="4160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FastAPI  /api/*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069311" y="4846320"/>
            <a:ext cx="20299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E6664"/>
                </a:solidFill>
                <a:latin typeface="Arial"/>
              </a:rPr>
              <a:t>events · entities · incidents · behavior · detections · timeline</a:t>
            </a:r>
          </a:p>
        </p:txBody>
      </p:sp>
      <p:sp>
        <p:nvSpPr>
          <p:cNvPr id="178" name="Can 177"/>
          <p:cNvSpPr/>
          <p:nvPr/>
        </p:nvSpPr>
        <p:spPr>
          <a:xfrm>
            <a:off x="1115568" y="6355080"/>
            <a:ext cx="2212848" cy="1188720"/>
          </a:xfrm>
          <a:prstGeom prst="can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1252728" y="67665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4944"/>
                </a:solidFill>
                <a:latin typeface="Arial"/>
              </a:rPr>
              <a:t>Raw flow records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52728" y="7132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E6664"/>
                </a:solidFill>
                <a:latin typeface="Arial"/>
              </a:rPr>
              <a:t>kept 14 days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2221992" y="5806440"/>
            <a:ext cx="0" cy="548640"/>
          </a:xfrm>
          <a:prstGeom prst="line">
            <a:avLst/>
          </a:prstGeom>
          <a:ln w="15875">
            <a:solidFill>
              <a:srgbClr val="0E7C8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Can 181"/>
          <p:cNvSpPr/>
          <p:nvPr/>
        </p:nvSpPr>
        <p:spPr>
          <a:xfrm>
            <a:off x="9421977" y="6355080"/>
            <a:ext cx="2212848" cy="1188720"/>
          </a:xfrm>
          <a:prstGeom prst="can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9559137" y="67665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4944"/>
                </a:solidFill>
                <a:latin typeface="Arial"/>
              </a:rPr>
              <a:t>Events &amp; detections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559137" y="7132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E6664"/>
                </a:solidFill>
                <a:latin typeface="Arial"/>
              </a:rPr>
              <a:t>kept 90 days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0528401" y="5806440"/>
            <a:ext cx="0" cy="548640"/>
          </a:xfrm>
          <a:prstGeom prst="line">
            <a:avLst/>
          </a:prstGeom>
          <a:ln w="15875">
            <a:solidFill>
              <a:srgbClr val="0E7C8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Can 185"/>
          <p:cNvSpPr/>
          <p:nvPr/>
        </p:nvSpPr>
        <p:spPr>
          <a:xfrm>
            <a:off x="12190780" y="6355080"/>
            <a:ext cx="2212848" cy="1188720"/>
          </a:xfrm>
          <a:prstGeom prst="can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12327940" y="676656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4944"/>
                </a:solidFill>
                <a:latin typeface="Arial"/>
              </a:rPr>
              <a:t>Incidents &amp; reports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327940" y="7132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E6664"/>
                </a:solidFill>
                <a:latin typeface="Arial"/>
              </a:rPr>
              <a:t>kept 1 year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13297204" y="5806440"/>
            <a:ext cx="0" cy="548640"/>
          </a:xfrm>
          <a:prstGeom prst="line">
            <a:avLst/>
          </a:prstGeom>
          <a:ln w="15875">
            <a:solidFill>
              <a:srgbClr val="0E7C8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ounded Rectangle 189"/>
          <p:cNvSpPr/>
          <p:nvPr/>
        </p:nvSpPr>
        <p:spPr>
          <a:xfrm>
            <a:off x="8458200" y="8138160"/>
            <a:ext cx="8805672" cy="1371600"/>
          </a:xfrm>
          <a:prstGeom prst="roundRect">
            <a:avLst>
              <a:gd name="adj" fmla="val 6000"/>
            </a:avLst>
          </a:prstGeom>
          <a:solidFill>
            <a:srgbClr val="E4F8F9"/>
          </a:solidFill>
          <a:ln w="22225">
            <a:solidFill>
              <a:srgbClr val="0E7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8732520" y="8321040"/>
            <a:ext cx="825703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4944"/>
                </a:solidFill>
                <a:latin typeface="Arial"/>
              </a:rPr>
              <a:t>React frontend (this project)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732520" y="8796528"/>
            <a:ext cx="82570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3332"/>
                </a:solidFill>
                <a:latin typeface="Arial"/>
              </a:rPr>
              <a:t>Overview · Flight Recorder · Investigation · Behavior · Timeline · Entities · Detection · Report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6066007" y="5806440"/>
            <a:ext cx="0" cy="2331720"/>
          </a:xfrm>
          <a:prstGeom prst="line">
            <a:avLst/>
          </a:prstGeom>
          <a:ln w="22225">
            <a:solidFill>
              <a:srgbClr val="0E7C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193"/>
          <p:cNvSpPr/>
          <p:nvPr/>
        </p:nvSpPr>
        <p:spPr>
          <a:xfrm>
            <a:off x="15654527" y="6766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15654527" y="68031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004944"/>
                </a:solidFill>
                <a:latin typeface="Arial"/>
              </a:rPr>
              <a:t>JSON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24128" y="8138160"/>
            <a:ext cx="708660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298448" y="832104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B5432F"/>
                </a:solidFill>
                <a:latin typeface="Arial"/>
              </a:rPr>
              <a:t>In this build: </a:t>
            </a:r>
            <a:r>
              <a:rPr sz="1400" b="0" i="0">
                <a:solidFill>
                  <a:srgbClr val="1E3332"/>
                </a:solidFill>
                <a:latin typeface="Arial"/>
              </a:rPr>
              <a:t>stages 1–5 are simulated in src/data with seeded, deterministic telemetry. The frontend already reads them through useResource exactly as it will read /api/*.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6239743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pic>
        <p:nvPicPr>
          <p:cNvPr id="155" name="Picture 154" descr="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514600"/>
            <a:ext cx="11338560" cy="7086600"/>
          </a:xfrm>
          <a:prstGeom prst="rect">
            <a:avLst/>
          </a:prstGeom>
          <a:ln w="12700">
            <a:solidFill>
              <a:srgbClr val="2A3A39"/>
            </a:solidFill>
          </a:ln>
        </p:spPr>
      </p:pic>
      <p:sp>
        <p:nvSpPr>
          <p:cNvPr id="156" name="Rounded Rectangle 155"/>
          <p:cNvSpPr/>
          <p:nvPr/>
        </p:nvSpPr>
        <p:spPr>
          <a:xfrm>
            <a:off x="12774167" y="2514600"/>
            <a:ext cx="4489704" cy="7086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13094207" y="2788920"/>
            <a:ext cx="3849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944"/>
                </a:solidFill>
                <a:latin typeface="Arial"/>
              </a:rPr>
              <a:t>Security Overview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094207" y="3291840"/>
            <a:ext cx="3849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E7C84"/>
                </a:solidFill>
                <a:latin typeface="Arial"/>
              </a:rPr>
              <a:t>What is abnormal right now?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094207" y="3931920"/>
            <a:ext cx="3849624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0" i="0">
                <a:solidFill>
                  <a:srgbClr val="1E3332"/>
                </a:solidFill>
                <a:latin typeface="Arial"/>
              </a:rPr>
              <a:t>Behavioral activity map: critical entities in red, deviating flows in amber, normal traffic stays quiet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0" i="0">
                <a:solidFill>
                  <a:srgbClr val="1E3332"/>
                </a:solidFill>
                <a:latin typeface="Arial"/>
              </a:rPr>
              <a:t>Zoom, pan and select an entity to open its profile in place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0" i="0">
                <a:solidFill>
                  <a:srgbClr val="1E3332"/>
                </a:solidFill>
                <a:latin typeface="Arial"/>
              </a:rPr>
              <a:t>Time window 15 min – 24 h filters the flows shown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0" i="0">
                <a:solidFill>
                  <a:srgbClr val="1E3332"/>
                </a:solidFill>
                <a:latin typeface="Arial"/>
              </a:rPr>
              <a:t>Live event stream with severity and confidence on every event</a:t>
            </a:r>
          </a:p>
          <a:p>
            <a:pPr algn="l" marL="274320" indent="-274320">
              <a:spcAft>
                <a:spcPts val="1200"/>
              </a:spcAft>
              <a:buClr>
                <a:srgbClr val="0E7C84"/>
              </a:buClr>
              <a:buFont typeface="Arial"/>
              <a:buChar char="▪"/>
            </a:pPr>
            <a:r>
              <a:rPr sz="1600" b="0" i="0">
                <a:solidFill>
                  <a:srgbClr val="1E3332"/>
                </a:solidFill>
                <a:latin typeface="Arial"/>
              </a:rPr>
              <a:t>Open investigations, largest deviations and sensor posture below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6239743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Flight Recorder</a:t>
            </a:r>
            <a:endParaRPr/>
          </a:p>
        </p:txBody>
      </p:sp>
      <p:pic>
        <p:nvPicPr>
          <p:cNvPr id="155" name="Picture 154" descr="recorder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77440"/>
            <a:ext cx="16239743" cy="6023411"/>
          </a:xfrm>
          <a:prstGeom prst="rect">
            <a:avLst/>
          </a:prstGeom>
          <a:ln w="12700">
            <a:solidFill>
              <a:srgbClr val="2A3A39"/>
            </a:solidFill>
          </a:ln>
        </p:spPr>
      </p:pic>
      <p:sp>
        <p:nvSpPr>
          <p:cNvPr id="156" name="Rounded Rectangle 155"/>
          <p:cNvSpPr/>
          <p:nvPr/>
        </p:nvSpPr>
        <p:spPr>
          <a:xfrm>
            <a:off x="1024128" y="8720891"/>
            <a:ext cx="5169407" cy="110890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1298448" y="8858051"/>
            <a:ext cx="4620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Phase rail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98448" y="9223811"/>
            <a:ext cx="46207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E6664"/>
                </a:solidFill>
                <a:latin typeface="Arial"/>
              </a:rPr>
              <a:t>Six phases from Normal to Incident; click one to jump straight to it.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559296" y="8720891"/>
            <a:ext cx="5169407" cy="110890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833615" y="8858051"/>
            <a:ext cx="4620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Replay strip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33615" y="9223811"/>
            <a:ext cx="46207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E6664"/>
                </a:solidFill>
                <a:latin typeface="Arial"/>
              </a:rPr>
              <a:t>One lane per entity, one tick per flow. Ahead of the cursor stays dimmed.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2094464" y="8720891"/>
            <a:ext cx="5169407" cy="1108908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12368784" y="8858051"/>
            <a:ext cx="4620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4944"/>
                </a:solidFill>
                <a:latin typeface="Arial"/>
              </a:rPr>
              <a:t>Synchronized panels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368784" y="9223811"/>
            <a:ext cx="46207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E6664"/>
                </a:solidFill>
                <a:latin typeface="Arial"/>
              </a:rPr>
              <a:t>Graph, event list, score and explanation all follow the cursor.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6239743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Investigation &amp; Detection</a:t>
            </a:r>
            <a:endParaRPr/>
          </a:p>
        </p:txBody>
      </p:sp>
      <p:pic>
        <p:nvPicPr>
          <p:cNvPr id="155" name="Picture 154" descr="investig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914131" cy="4946332"/>
          </a:xfrm>
          <a:prstGeom prst="rect">
            <a:avLst/>
          </a:prstGeom>
          <a:ln w="12700">
            <a:solidFill>
              <a:srgbClr val="2A3A39"/>
            </a:solidFill>
          </a:ln>
        </p:spPr>
      </p:pic>
      <p:sp>
        <p:nvSpPr>
          <p:cNvPr id="156" name="Rounded Rectangle 155"/>
          <p:cNvSpPr/>
          <p:nvPr/>
        </p:nvSpPr>
        <p:spPr>
          <a:xfrm>
            <a:off x="1024128" y="7643812"/>
            <a:ext cx="7914131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1298448" y="7780972"/>
            <a:ext cx="73654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4944"/>
                </a:solidFill>
                <a:latin typeface="Arial"/>
              </a:rPr>
              <a:t>Incident Investigation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98448" y="8192452"/>
            <a:ext cx="73654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E6664"/>
                </a:solidFill>
                <a:latin typeface="Arial"/>
              </a:rPr>
              <a:t>Metadata, a chronological reconstruction with raw records, and “Why was this flagged?” — the 82/100 score split into four factors.</a:t>
            </a:r>
          </a:p>
        </p:txBody>
      </p:sp>
      <p:pic>
        <p:nvPicPr>
          <p:cNvPr id="159" name="Picture 158" descr="detec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739" y="2423160"/>
            <a:ext cx="7914131" cy="4946332"/>
          </a:xfrm>
          <a:prstGeom prst="rect">
            <a:avLst/>
          </a:prstGeom>
          <a:ln w="12700">
            <a:solidFill>
              <a:srgbClr val="2A3A39"/>
            </a:solidFill>
          </a:ln>
        </p:spPr>
      </p:pic>
      <p:sp>
        <p:nvSpPr>
          <p:cNvPr id="160" name="Rounded Rectangle 159"/>
          <p:cNvSpPr/>
          <p:nvPr/>
        </p:nvSpPr>
        <p:spPr>
          <a:xfrm>
            <a:off x="9349739" y="7643812"/>
            <a:ext cx="7914131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9624059" y="7780972"/>
            <a:ext cx="73654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4944"/>
                </a:solidFill>
                <a:latin typeface="Arial"/>
              </a:rPr>
              <a:t>Detection Details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624059" y="8192452"/>
            <a:ext cx="73654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E6664"/>
                </a:solidFill>
                <a:latin typeface="Arial"/>
              </a:rPr>
              <a:t>Four reasoning steps, each with observed vs baseline values and an evidence chart, plus confidence composition and counter-evidence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24128" y="2606040"/>
            <a:ext cx="3840480" cy="2514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1344168" y="28346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E7C84"/>
                </a:solidFill>
                <a:latin typeface="Times New Roman"/>
              </a:rPr>
              <a:t>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344168" y="40233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3332"/>
                </a:solidFill>
                <a:latin typeface="Arial"/>
              </a:rPr>
              <a:t>screens: landing page plus nine workspace sections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184648" y="2606040"/>
            <a:ext cx="3840480" cy="2514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5504688" y="28346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E7C84"/>
                </a:solidFill>
                <a:latin typeface="Times New Roman"/>
              </a:rPr>
              <a:t>15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04688" y="40233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3332"/>
                </a:solidFill>
                <a:latin typeface="Arial"/>
              </a:rPr>
              <a:t>bugs found and fixed in a scripted debug pass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24128" y="5440680"/>
            <a:ext cx="3840480" cy="2514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1344168" y="56692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E7C84"/>
                </a:solidFill>
                <a:latin typeface="Times New Roman"/>
              </a:rPr>
              <a:t>109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44168" y="6858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3332"/>
                </a:solidFill>
                <a:latin typeface="Arial"/>
              </a:rPr>
              <a:t>simulated events in the forensic log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184648" y="5440680"/>
            <a:ext cx="3840480" cy="2514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5504688" y="56692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E7C84"/>
                </a:solidFill>
                <a:latin typeface="Times New Roman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504688" y="6858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3332"/>
                </a:solidFill>
                <a:latin typeface="Arial"/>
              </a:rPr>
              <a:t>viewport widths verified (768–1440 px), no overflow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024128" y="8275320"/>
            <a:ext cx="8001000" cy="1417319"/>
          </a:xfrm>
          <a:prstGeom prst="roundRect">
            <a:avLst>
              <a:gd name="adj" fmla="val 6000"/>
            </a:avLst>
          </a:prstGeom>
          <a:solidFill>
            <a:srgbClr val="004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1344168" y="8458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DE0E6"/>
                </a:solidFill>
                <a:latin typeface="Arial"/>
              </a:rPr>
              <a:t>RUN IT LOCALLY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344168" y="88239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npm install  →  npm run dev  →  localhost:5173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464040" y="2606040"/>
            <a:ext cx="7799831" cy="7086600"/>
          </a:xfrm>
          <a:prstGeom prst="roundRect">
            <a:avLst>
              <a:gd name="adj" fmla="val 6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BF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9829800" y="2834640"/>
            <a:ext cx="70683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Verified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829800" y="3337560"/>
            <a:ext cx="706831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Scrubbing moves time, phase, score (10 → 53 → 82), events and graph together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Incident ↔ detection links open the matching record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Every score equals the sum of its factors (82 and 61)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Zero console errors across all routes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829800" y="5440680"/>
            <a:ext cx="70683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4944"/>
                </a:solidFill>
                <a:latin typeface="Arial"/>
              </a:rPr>
              <a:t>Next steps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29800" y="5943600"/>
            <a:ext cx="706831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Build the FastAPI backend against the existing /api/* contract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Ingest real Zeek and NetFlow telemetry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Replace scripted scores with a trained baseline model</a:t>
            </a:r>
          </a:p>
          <a:p>
            <a:pPr algn="l" marL="274320" indent="-274320">
              <a:spcAft>
                <a:spcPts val="600"/>
              </a:spcAft>
              <a:buClr>
                <a:srgbClr val="0E7C84"/>
              </a:buClr>
              <a:buFont typeface="Arial"/>
              <a:buChar char="▪"/>
            </a:pPr>
            <a:r>
              <a:rPr sz="1500" b="0" i="0">
                <a:solidFill>
                  <a:srgbClr val="1E3332"/>
                </a:solidFill>
                <a:latin typeface="Arial"/>
              </a:rPr>
              <a:t>Check the printed PDF of the investigation report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829800" y="8092440"/>
            <a:ext cx="7068312" cy="1325880"/>
          </a:xfrm>
          <a:prstGeom prst="roundRect">
            <a:avLst>
              <a:gd name="adj" fmla="val 6000"/>
            </a:avLst>
          </a:prstGeom>
          <a:solidFill>
            <a:srgbClr val="E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10058400" y="8229600"/>
            <a:ext cx="6611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B5432F"/>
                </a:solidFill>
                <a:latin typeface="Arial"/>
              </a:rPr>
              <a:t>Honest limits: </a:t>
            </a:r>
            <a:r>
              <a:rPr sz="1300" b="0" i="0">
                <a:solidFill>
                  <a:srgbClr val="1E3332"/>
                </a:solidFill>
                <a:latin typeface="Arial"/>
              </a:rPr>
              <a:t>all telemetry is simulated and the frontend performs no live detection. Addresses use RFC 5737 ranges and .example domains.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